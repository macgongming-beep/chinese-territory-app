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54864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中国人地区传道应用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33272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C9CDC9"/>
                </a:solidFill>
                <a:latin typeface="PingFang SC"/>
                <a:ea typeface="PingFang SC"/>
                <a:cs typeface="PingFang SC"/>
              </a:rPr>
              <a:t>传道员 · 带头人使用说明 — 用手机轻松上手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743200"/>
            <a:ext cx="164592" cy="128016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743200"/>
            <a:ext cx="9601200" cy="12801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C1C1A"/>
                </a:solidFill>
                <a:latin typeface="PingFang SC"/>
                <a:ea typeface="PingFang SC"/>
                <a:cs typeface="PingFang SC"/>
              </a:rPr>
              <a:t>开始（通用）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731520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C1C1A"/>
                </a:solidFill>
                <a:latin typeface="PingFang SC"/>
                <a:ea typeface="PingFang SC"/>
                <a:cs typeface="PingFang SC"/>
              </a:rPr>
              <a:t>登录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45920"/>
            <a:ext cx="6766560" cy="4754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>
                <a:solidFill>
                  <a:srgbClr val="1C1C1A"/>
                </a:solidFill>
                <a:latin typeface="PingFang SC"/>
                <a:ea typeface="PingFang SC"/>
                <a:cs typeface="PingFang SC"/>
              </a:rPr>
              <a:t>①  打开应用网址（建议加书签）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1C1C1A"/>
                </a:solidFill>
                <a:latin typeface="PingFang SC"/>
                <a:ea typeface="PingFang SC"/>
                <a:cs typeface="PingFang SC"/>
              </a:rPr>
              <a:t>②  输入账号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1C1C1A"/>
                </a:solidFill>
                <a:latin typeface="PingFang SC"/>
                <a:ea typeface="PingFang SC"/>
                <a:cs typeface="PingFang SC"/>
              </a:rPr>
              <a:t>③  输入密码（PIN）→ 登录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B45A09"/>
                </a:solidFill>
                <a:latin typeface="PingFang SC"/>
                <a:ea typeface="PingFang SC"/>
                <a:cs typeface="PingFang SC"/>
              </a:rPr>
              <a:t>💡 忘记密码请联系管理员重置。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1645920"/>
            <a:ext cx="3566160" cy="4572000"/>
          </a:xfrm>
          <a:prstGeom prst="roundRect">
            <a:avLst/>
          </a:prstGeom>
          <a:solidFill>
            <a:srgbClr val="ECEEEC"/>
          </a:solidFill>
          <a:ln w="12700">
            <a:solidFill>
              <a:srgbClr val="C9CD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79" y="3657600"/>
            <a:ext cx="35661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📷 放置截图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4069080"/>
            <a:ext cx="356616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登录界面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731520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C1C1A"/>
                </a:solidFill>
                <a:latin typeface="PingFang SC"/>
                <a:ea typeface="PingFang SC"/>
                <a:cs typeface="PingFang SC"/>
              </a:rPr>
              <a:t>安装到手机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45920"/>
            <a:ext cx="6766560" cy="4754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>
                <a:solidFill>
                  <a:srgbClr val="1C1C1A"/>
                </a:solidFill>
                <a:latin typeface="PingFang SC"/>
                <a:ea typeface="PingFang SC"/>
                <a:cs typeface="PingFang SC"/>
              </a:rPr>
              <a:t>苹果：Safari → 分享 → “添加到主屏幕”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1C1C1A"/>
                </a:solidFill>
                <a:latin typeface="PingFang SC"/>
                <a:ea typeface="PingFang SC"/>
                <a:cs typeface="PingFang SC"/>
              </a:rPr>
              <a:t>安卓：Chrome 菜单(⋮) → “添加到主屏幕”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B45A09"/>
                </a:solidFill>
                <a:latin typeface="PingFang SC"/>
                <a:ea typeface="PingFang SC"/>
                <a:cs typeface="PingFang SC"/>
              </a:rPr>
              <a:t>💡 安装后无需每次输网址，通知也更及时。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1645920"/>
            <a:ext cx="3566160" cy="4572000"/>
          </a:xfrm>
          <a:prstGeom prst="roundRect">
            <a:avLst/>
          </a:prstGeom>
          <a:solidFill>
            <a:srgbClr val="ECEEEC"/>
          </a:solidFill>
          <a:ln w="12700">
            <a:solidFill>
              <a:srgbClr val="C9CD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79" y="3657600"/>
            <a:ext cx="35661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📷 放置截图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4069080"/>
            <a:ext cx="356616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添加到主屏幕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731520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C1C1A"/>
                </a:solidFill>
                <a:latin typeface="PingFang SC"/>
                <a:ea typeface="PingFang SC"/>
                <a:cs typeface="PingFang SC"/>
              </a:rPr>
              <a:t>界面构成 — 用底部标签切换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45920"/>
            <a:ext cx="6766560" cy="4754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>
                <a:solidFill>
                  <a:srgbClr val="1C1C1A"/>
                </a:solidFill>
                <a:latin typeface="PingFang SC"/>
                <a:ea typeface="PingFang SC"/>
                <a:cs typeface="PingFang SC"/>
              </a:rPr>
              <a:t>传道员：首页 · 日历 · 我的传道 · 设置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1C1C1A"/>
                </a:solidFill>
                <a:latin typeface="PingFang SC"/>
                <a:ea typeface="PingFang SC"/>
                <a:cs typeface="PingFang SC"/>
              </a:rPr>
              <a:t>带头人：首页 · 日历 · 我的传道 · 地区 · 设置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B45A09"/>
                </a:solidFill>
                <a:latin typeface="PingFang SC"/>
                <a:ea typeface="PingFang SC"/>
                <a:cs typeface="PingFang SC"/>
              </a:rPr>
              <a:t>💡 下面逐个标签说明。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1645920"/>
            <a:ext cx="3566160" cy="4572000"/>
          </a:xfrm>
          <a:prstGeom prst="roundRect">
            <a:avLst/>
          </a:prstGeom>
          <a:solidFill>
            <a:srgbClr val="ECEEEC"/>
          </a:solidFill>
          <a:ln w="12700">
            <a:solidFill>
              <a:srgbClr val="C9CD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79" y="3657600"/>
            <a:ext cx="35661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📷 放置截图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4069080"/>
            <a:ext cx="356616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底部标签栏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743200"/>
            <a:ext cx="164592" cy="128016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743200"/>
            <a:ext cx="9601200" cy="12801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C1C1A"/>
                </a:solidFill>
                <a:latin typeface="PingFang SC"/>
                <a:ea typeface="PingFang SC"/>
                <a:cs typeface="PingFang SC"/>
              </a:rPr>
              <a:t>传道员 — 4 个标签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731520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C1C1A"/>
                </a:solidFill>
                <a:latin typeface="PingFang SC"/>
                <a:ea typeface="PingFang SC"/>
                <a:cs typeface="PingFang SC"/>
              </a:rPr>
              <a:t>【首页】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45920"/>
            <a:ext cx="6766560" cy="4754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>
                <a:solidFill>
                  <a:srgbClr val="1C1C1A"/>
                </a:solidFill>
                <a:latin typeface="PingFang SC"/>
                <a:ea typeface="PingFang SC"/>
                <a:cs typeface="PingFang SC"/>
              </a:rPr>
              <a:t>①  今天 / 近期日程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1C1C1A"/>
                </a:solidFill>
                <a:latin typeface="PingFang SC"/>
                <a:ea typeface="PingFang SC"/>
                <a:cs typeface="PingFang SC"/>
              </a:rPr>
              <a:t>②  特别传道横幅（进行中时）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1C1C1A"/>
                </a:solidFill>
                <a:latin typeface="PingFang SC"/>
                <a:ea typeface="PingFang SC"/>
                <a:cs typeface="PingFang SC"/>
              </a:rPr>
              <a:t>③  对话建议（传道前参考问题·经文）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1C1C1A"/>
                </a:solidFill>
                <a:latin typeface="PingFang SC"/>
                <a:ea typeface="PingFang SC"/>
                <a:cs typeface="PingFang SC"/>
              </a:rPr>
              <a:t>④  顶部 🔔 通知 · 💬 聊天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B45A09"/>
                </a:solidFill>
                <a:latin typeface="PingFang SC"/>
                <a:ea typeface="PingFang SC"/>
                <a:cs typeface="PingFang SC"/>
              </a:rPr>
              <a:t>💡 “对话建议”出门传道前看很有用。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1645920"/>
            <a:ext cx="3566160" cy="4572000"/>
          </a:xfrm>
          <a:prstGeom prst="roundRect">
            <a:avLst/>
          </a:prstGeom>
          <a:solidFill>
            <a:srgbClr val="ECEEEC"/>
          </a:solidFill>
          <a:ln w="12700">
            <a:solidFill>
              <a:srgbClr val="C9CD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79" y="3657600"/>
            <a:ext cx="35661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📷 放置截图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4069080"/>
            <a:ext cx="356616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首页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731520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C1C1A"/>
                </a:solidFill>
                <a:latin typeface="PingFang SC"/>
                <a:ea typeface="PingFang SC"/>
                <a:cs typeface="PingFang SC"/>
              </a:rPr>
              <a:t>【日历】 — 申请参与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45920"/>
            <a:ext cx="6766560" cy="4754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>
                <a:solidFill>
                  <a:srgbClr val="1C1C1A"/>
                </a:solidFill>
                <a:latin typeface="PingFang SC"/>
                <a:ea typeface="PingFang SC"/>
                <a:cs typeface="PingFang SC"/>
              </a:rPr>
              <a:t>①  点日期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1C1C1A"/>
                </a:solidFill>
                <a:latin typeface="PingFang SC"/>
                <a:ea typeface="PingFang SC"/>
                <a:cs typeface="PingFang SC"/>
              </a:rPr>
              <a:t>②  点当天日程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1C1C1A"/>
                </a:solidFill>
                <a:latin typeface="PingFang SC"/>
                <a:ea typeface="PingFang SC"/>
                <a:cs typeface="PingFang SC"/>
              </a:rPr>
              <a:t>③  “申请参与”（取消在同一处）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B45A09"/>
                </a:solidFill>
                <a:latin typeface="PingFang SC"/>
                <a:ea typeface="PingFang SC"/>
                <a:cs typeface="PingFang SC"/>
              </a:rPr>
              <a:t>💡 日程里也能看聊天·参加者。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1645920"/>
            <a:ext cx="3566160" cy="4572000"/>
          </a:xfrm>
          <a:prstGeom prst="roundRect">
            <a:avLst/>
          </a:prstGeom>
          <a:solidFill>
            <a:srgbClr val="ECEEEC"/>
          </a:solidFill>
          <a:ln w="12700">
            <a:solidFill>
              <a:srgbClr val="C9CD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79" y="3657600"/>
            <a:ext cx="35661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📷 放置截图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4069080"/>
            <a:ext cx="356616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日程详情 + 申请按钮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731520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C1C1A"/>
                </a:solidFill>
                <a:latin typeface="PingFang SC"/>
                <a:ea typeface="PingFang SC"/>
                <a:cs typeface="PingFang SC"/>
              </a:rPr>
              <a:t>【我的传道】① 查看我的地区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45920"/>
            <a:ext cx="6766560" cy="4754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>
                <a:solidFill>
                  <a:srgbClr val="1C1C1A"/>
                </a:solidFill>
                <a:latin typeface="PingFang SC"/>
                <a:ea typeface="PingFang SC"/>
                <a:cs typeface="PingFang SC"/>
              </a:rPr>
              <a:t>①  我的传道标签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1C1C1A"/>
                </a:solidFill>
                <a:latin typeface="PingFang SC"/>
                <a:ea typeface="PingFang SC"/>
                <a:cs typeface="PingFang SC"/>
              </a:rPr>
              <a:t>②  选“我的卡片”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1C1C1A"/>
                </a:solidFill>
                <a:latin typeface="PingFang SC"/>
                <a:ea typeface="PingFang SC"/>
                <a:cs typeface="PingFang SC"/>
              </a:rPr>
              <a:t>③  点卡片（地区）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B45A09"/>
                </a:solidFill>
                <a:latin typeface="PingFang SC"/>
                <a:ea typeface="PingFang SC"/>
                <a:cs typeface="PingFang SC"/>
              </a:rPr>
              <a:t>💡 用上方筛选只看“需要探访”。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1645920"/>
            <a:ext cx="3566160" cy="4572000"/>
          </a:xfrm>
          <a:prstGeom prst="roundRect">
            <a:avLst/>
          </a:prstGeom>
          <a:solidFill>
            <a:srgbClr val="ECEEEC"/>
          </a:solidFill>
          <a:ln w="12700">
            <a:solidFill>
              <a:srgbClr val="C9CD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79" y="3657600"/>
            <a:ext cx="35661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📷 放置截图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4069080"/>
            <a:ext cx="356616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我的卡片列表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731520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C1C1A"/>
                </a:solidFill>
                <a:latin typeface="PingFang SC"/>
                <a:ea typeface="PingFang SC"/>
                <a:cs typeface="PingFang SC"/>
              </a:rPr>
              <a:t>【我的传道】② 记录探访  ★重要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45920"/>
            <a:ext cx="6766560" cy="4754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>
                <a:solidFill>
                  <a:srgbClr val="1C1C1A"/>
                </a:solidFill>
                <a:latin typeface="PingFang SC"/>
                <a:ea typeface="PingFang SC"/>
                <a:cs typeface="PingFang SC"/>
              </a:rPr>
              <a:t>①  打开卡片 → ②  查看地图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1C1C1A"/>
                </a:solidFill>
                <a:latin typeface="PingFang SC"/>
                <a:ea typeface="PingFang SC"/>
                <a:cs typeface="PingFang SC"/>
              </a:rPr>
              <a:t>③  楼栋 → 住户（门牌）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1C1C1A"/>
                </a:solidFill>
                <a:latin typeface="PingFang SC"/>
                <a:ea typeface="PingFang SC"/>
                <a:cs typeface="PingFang SC"/>
              </a:rPr>
              <a:t>④  选结果：遇见 / 不在 / 非目标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B45A09"/>
                </a:solidFill>
                <a:latin typeface="PingFang SC"/>
                <a:ea typeface="PingFang SC"/>
                <a:cs typeface="PingFang SC"/>
              </a:rPr>
              <a:t>💡 留了邀请函就勾选，也可写备注。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B45A09"/>
                </a:solidFill>
                <a:latin typeface="PingFang SC"/>
                <a:ea typeface="PingFang SC"/>
                <a:cs typeface="PingFang SC"/>
              </a:rPr>
              <a:t>💡 点错了再点一次即可取消。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1645920"/>
            <a:ext cx="3566160" cy="4572000"/>
          </a:xfrm>
          <a:prstGeom prst="roundRect">
            <a:avLst/>
          </a:prstGeom>
          <a:solidFill>
            <a:srgbClr val="ECEEEC"/>
          </a:solidFill>
          <a:ln w="12700">
            <a:solidFill>
              <a:srgbClr val="C9CD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79" y="3657600"/>
            <a:ext cx="35661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📷 放置截图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4069080"/>
            <a:ext cx="356616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住户探访记录按钮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731520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C1C1A"/>
                </a:solidFill>
                <a:latin typeface="PingFang SC"/>
                <a:ea typeface="PingFang SC"/>
                <a:cs typeface="PingFang SC"/>
              </a:rPr>
              <a:t>【我的传道】③ 定期访问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45920"/>
            <a:ext cx="6766560" cy="4754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>
                <a:solidFill>
                  <a:srgbClr val="1C1C1A"/>
                </a:solidFill>
                <a:latin typeface="PingFang SC"/>
                <a:ea typeface="PingFang SC"/>
                <a:cs typeface="PingFang SC"/>
              </a:rPr>
              <a:t>①  在住户（或地址）填负责人·开始日期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1C1C1A"/>
                </a:solidFill>
                <a:latin typeface="PingFang SC"/>
                <a:ea typeface="PingFang SC"/>
                <a:cs typeface="PingFang SC"/>
              </a:rPr>
              <a:t>②  保存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B45A09"/>
                </a:solidFill>
                <a:latin typeface="PingFang SC"/>
                <a:ea typeface="PingFang SC"/>
                <a:cs typeface="PingFang SC"/>
              </a:rPr>
              <a:t>💡 定期访问在“我的传道”里单独汇总。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1645920"/>
            <a:ext cx="3566160" cy="4572000"/>
          </a:xfrm>
          <a:prstGeom prst="roundRect">
            <a:avLst/>
          </a:prstGeom>
          <a:solidFill>
            <a:srgbClr val="ECEEEC"/>
          </a:solidFill>
          <a:ln w="12700">
            <a:solidFill>
              <a:srgbClr val="C9CD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79" y="3657600"/>
            <a:ext cx="35661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📷 放置截图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4069080"/>
            <a:ext cx="356616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定期访问录入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731520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C1C1A"/>
                </a:solidFill>
                <a:latin typeface="PingFang SC"/>
                <a:ea typeface="PingFang SC"/>
                <a:cs typeface="PingFang SC"/>
              </a:rPr>
              <a:t>【设置】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45920"/>
            <a:ext cx="6766560" cy="4754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>
                <a:solidFill>
                  <a:srgbClr val="1C1C1A"/>
                </a:solidFill>
                <a:latin typeface="PingFang SC"/>
                <a:ea typeface="PingFang SC"/>
                <a:cs typeface="PingFang SC"/>
              </a:rPr>
              <a:t>修改密码 · 开启通知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1C1C1A"/>
                </a:solidFill>
                <a:latin typeface="PingFang SC"/>
                <a:ea typeface="PingFang SC"/>
                <a:cs typeface="PingFang SC"/>
              </a:rPr>
              <a:t>语言（韩/中/英）· 应用更新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B45A09"/>
                </a:solidFill>
                <a:latin typeface="PingFang SC"/>
                <a:ea typeface="PingFang SC"/>
                <a:cs typeface="PingFang SC"/>
              </a:rPr>
              <a:t>💡 收不到通知先在这里“允许通知”。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1645920"/>
            <a:ext cx="3566160" cy="4572000"/>
          </a:xfrm>
          <a:prstGeom prst="roundRect">
            <a:avLst/>
          </a:prstGeom>
          <a:solidFill>
            <a:srgbClr val="ECEEEC"/>
          </a:solidFill>
          <a:ln w="12700">
            <a:solidFill>
              <a:srgbClr val="C9CD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79" y="3657600"/>
            <a:ext cx="35661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📷 放置截图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4069080"/>
            <a:ext cx="356616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设置界面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743200"/>
            <a:ext cx="164592" cy="128016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743200"/>
            <a:ext cx="9601200" cy="12801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C1C1A"/>
                </a:solidFill>
                <a:latin typeface="PingFang SC"/>
                <a:ea typeface="PingFang SC"/>
                <a:cs typeface="PingFang SC"/>
              </a:rPr>
              <a:t>带头人 — 5 个标签（传道员 + α）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731520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C1C1A"/>
                </a:solidFill>
                <a:latin typeface="PingFang SC"/>
                <a:ea typeface="PingFang SC"/>
                <a:cs typeface="PingFang SC"/>
              </a:rPr>
              <a:t>带头人多出这些功能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45920"/>
            <a:ext cx="6766560" cy="4754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>
                <a:solidFill>
                  <a:srgbClr val="1C1C1A"/>
                </a:solidFill>
                <a:latin typeface="PingFang SC"/>
                <a:ea typeface="PingFang SC"/>
                <a:cs typeface="PingFang SC"/>
              </a:rPr>
              <a:t>传道员全部功能 +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1C1C1A"/>
                </a:solidFill>
                <a:latin typeface="PingFang SC"/>
                <a:ea typeface="PingFang SC"/>
                <a:cs typeface="PingFang SC"/>
              </a:rPr>
              <a:t>【地区】标签（查看全部地区）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1C1C1A"/>
                </a:solidFill>
                <a:latin typeface="PingFang SC"/>
                <a:ea typeface="PingFang SC"/>
                <a:cs typeface="PingFang SC"/>
              </a:rPr>
              <a:t>在日历里进行分配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1645920"/>
            <a:ext cx="3566160" cy="4572000"/>
          </a:xfrm>
          <a:prstGeom prst="roundRect">
            <a:avLst/>
          </a:prstGeom>
          <a:solidFill>
            <a:srgbClr val="ECEEEC"/>
          </a:solidFill>
          <a:ln w="12700">
            <a:solidFill>
              <a:srgbClr val="C9CD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79" y="3657600"/>
            <a:ext cx="35661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📷 放置截图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4069080"/>
            <a:ext cx="356616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—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731520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C1C1A"/>
                </a:solidFill>
                <a:latin typeface="PingFang SC"/>
                <a:ea typeface="PingFang SC"/>
                <a:cs typeface="PingFang SC"/>
              </a:rPr>
              <a:t>【地区】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45920"/>
            <a:ext cx="6766560" cy="4754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>
                <a:solidFill>
                  <a:srgbClr val="1C1C1A"/>
                </a:solidFill>
                <a:latin typeface="PingFang SC"/>
                <a:ea typeface="PingFang SC"/>
                <a:cs typeface="PingFang SC"/>
              </a:rPr>
              <a:t>①  地区标签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1C1C1A"/>
                </a:solidFill>
                <a:latin typeface="PingFang SC"/>
                <a:ea typeface="PingFang SC"/>
                <a:cs typeface="PingFang SC"/>
              </a:rPr>
              <a:t>②  用区·洞或搜索缩小范围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1C1C1A"/>
                </a:solidFill>
                <a:latin typeface="PingFang SC"/>
                <a:ea typeface="PingFang SC"/>
                <a:cs typeface="PingFang SC"/>
              </a:rPr>
              <a:t>③  查看卡片·地图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B45A09"/>
                </a:solidFill>
                <a:latin typeface="PingFang SC"/>
                <a:ea typeface="PingFang SC"/>
                <a:cs typeface="PingFang SC"/>
              </a:rPr>
              <a:t>💡 “我的传道”只看自己的，“地区”看全部。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1645920"/>
            <a:ext cx="3566160" cy="4572000"/>
          </a:xfrm>
          <a:prstGeom prst="roundRect">
            <a:avLst/>
          </a:prstGeom>
          <a:solidFill>
            <a:srgbClr val="ECEEEC"/>
          </a:solidFill>
          <a:ln w="12700">
            <a:solidFill>
              <a:srgbClr val="C9CD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79" y="3657600"/>
            <a:ext cx="35661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📷 放置截图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4069080"/>
            <a:ext cx="356616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地区列表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731520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C1C1A"/>
                </a:solidFill>
                <a:latin typeface="PingFang SC"/>
                <a:ea typeface="PingFang SC"/>
                <a:cs typeface="PingFang SC"/>
              </a:rPr>
              <a:t>【日历】 分配  ★带头人核心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45920"/>
            <a:ext cx="6766560" cy="4754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>
                <a:solidFill>
                  <a:srgbClr val="1C1C1A"/>
                </a:solidFill>
                <a:latin typeface="PingFang SC"/>
                <a:ea typeface="PingFang SC"/>
                <a:cs typeface="PingFang SC"/>
              </a:rPr>
              <a:t>①  打开日程 → 进入分配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1C1C1A"/>
                </a:solidFill>
                <a:latin typeface="PingFang SC"/>
                <a:ea typeface="PingFang SC"/>
                <a:cs typeface="PingFang SC"/>
              </a:rPr>
              <a:t>②  选人“组队”建立队伍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1C1C1A"/>
                </a:solidFill>
                <a:latin typeface="PingFang SC"/>
                <a:ea typeface="PingFang SC"/>
                <a:cs typeface="PingFang SC"/>
              </a:rPr>
              <a:t>③  点队伍的 › 分配地区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1C1C1A"/>
                </a:solidFill>
                <a:latin typeface="PingFang SC"/>
                <a:ea typeface="PingFang SC"/>
                <a:cs typeface="PingFang SC"/>
              </a:rPr>
              <a:t>④  最后点“分享分配”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B45A09"/>
                </a:solidFill>
                <a:latin typeface="PingFang SC"/>
                <a:ea typeface="PingFang SC"/>
                <a:cs typeface="PingFang SC"/>
              </a:rPr>
              <a:t>💡 分享后队员才会收到通知。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B45A09"/>
                </a:solidFill>
                <a:latin typeface="PingFang SC"/>
                <a:ea typeface="PingFang SC"/>
                <a:cs typeface="PingFang SC"/>
              </a:rPr>
              <a:t>💡 人多时可用搜索。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1645920"/>
            <a:ext cx="3566160" cy="4572000"/>
          </a:xfrm>
          <a:prstGeom prst="roundRect">
            <a:avLst/>
          </a:prstGeom>
          <a:solidFill>
            <a:srgbClr val="ECEEEC"/>
          </a:solidFill>
          <a:ln w="12700">
            <a:solidFill>
              <a:srgbClr val="C9CD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79" y="3657600"/>
            <a:ext cx="35661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📷 放置截图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4069080"/>
            <a:ext cx="356616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组队 / 地区分配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731520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C1C1A"/>
                </a:solidFill>
                <a:latin typeface="PingFang SC"/>
                <a:ea typeface="PingFang SC"/>
                <a:cs typeface="PingFang SC"/>
              </a:rPr>
              <a:t>【我的传道】 — 今天的传道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45920"/>
            <a:ext cx="6766560" cy="4754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>
                <a:solidFill>
                  <a:srgbClr val="1C1C1A"/>
                </a:solidFill>
                <a:latin typeface="PingFang SC"/>
                <a:ea typeface="PingFang SC"/>
                <a:cs typeface="PingFang SC"/>
              </a:rPr>
              <a:t>①  查看今天分配的队伍·地区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1C1C1A"/>
                </a:solidFill>
                <a:latin typeface="PingFang SC"/>
                <a:ea typeface="PingFang SC"/>
                <a:cs typeface="PingFang SC"/>
              </a:rPr>
              <a:t>②  直接进入地图 / 记录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B45A09"/>
                </a:solidFill>
                <a:latin typeface="PingFang SC"/>
                <a:ea typeface="PingFang SC"/>
                <a:cs typeface="PingFang SC"/>
              </a:rPr>
              <a:t>💡 收到分配会有通知。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1645920"/>
            <a:ext cx="3566160" cy="4572000"/>
          </a:xfrm>
          <a:prstGeom prst="roundRect">
            <a:avLst/>
          </a:prstGeom>
          <a:solidFill>
            <a:srgbClr val="ECEEEC"/>
          </a:solidFill>
          <a:ln w="12700">
            <a:solidFill>
              <a:srgbClr val="C9CD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79" y="3657600"/>
            <a:ext cx="35661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📷 放置截图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4069080"/>
            <a:ext cx="356616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今天的分配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743200"/>
            <a:ext cx="164592" cy="128016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743200"/>
            <a:ext cx="9601200" cy="12801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C1C1A"/>
                </a:solidFill>
                <a:latin typeface="PingFang SC"/>
                <a:ea typeface="PingFang SC"/>
                <a:cs typeface="PingFang SC"/>
              </a:rPr>
              <a:t>结尾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731520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C1C1A"/>
                </a:solidFill>
                <a:latin typeface="PingFang SC"/>
                <a:ea typeface="PingFang SC"/>
                <a:cs typeface="PingFang SC"/>
              </a:rPr>
              <a:t>常见问题（FAQ）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45920"/>
            <a:ext cx="6766560" cy="4754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>
                <a:solidFill>
                  <a:srgbClr val="1C1C1A"/>
                </a:solidFill>
                <a:latin typeface="PingFang SC"/>
                <a:ea typeface="PingFang SC"/>
                <a:cs typeface="PingFang SC"/>
              </a:rPr>
              <a:t>无法登录  →  确认账号/密码，请管理员重置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1C1C1A"/>
                </a:solidFill>
                <a:latin typeface="PingFang SC"/>
                <a:ea typeface="PingFang SC"/>
                <a:cs typeface="PingFang SC"/>
              </a:rPr>
              <a:t>画面不刷新  →  下拉刷新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1C1C1A"/>
                </a:solidFill>
                <a:latin typeface="PingFang SC"/>
                <a:ea typeface="PingFang SC"/>
                <a:cs typeface="PingFang SC"/>
              </a:rPr>
              <a:t>收不到通知  →  设置里允许通知 + 安装应用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1645920"/>
            <a:ext cx="3566160" cy="4572000"/>
          </a:xfrm>
          <a:prstGeom prst="roundRect">
            <a:avLst/>
          </a:prstGeom>
          <a:solidFill>
            <a:srgbClr val="ECEEEC"/>
          </a:solidFill>
          <a:ln w="12700">
            <a:solidFill>
              <a:srgbClr val="C9CD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79" y="3657600"/>
            <a:ext cx="35661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📷 放置截图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4069080"/>
            <a:ext cx="356616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